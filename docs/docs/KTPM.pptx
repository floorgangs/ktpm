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4"/>
  </p:sldMasterIdLst>
  <p:sldIdLst>
    <p:sldId id="256" r:id="rId5"/>
    <p:sldId id="257" r:id="rId6"/>
    <p:sldId id="258" r:id="rId7"/>
    <p:sldId id="261" r:id="rId8"/>
    <p:sldId id="262" r:id="rId9"/>
    <p:sldId id="263" r:id="rId10"/>
    <p:sldId id="264" r:id="rId11"/>
    <p:sldId id="259" r:id="rId12"/>
    <p:sldId id="260" r:id="rId13"/>
    <p:sldId id="265" r:id="rId14"/>
    <p:sldId id="266" r:id="rId15"/>
    <p:sldId id="271" r:id="rId16"/>
    <p:sldId id="270" r:id="rId17"/>
    <p:sldId id="267" r:id="rId18"/>
    <p:sldId id="268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D9219-33F8-4E42-A79E-215990AFC33B}" v="198" dt="2025-12-21T13:24:22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FAB-C0F6-476B-B5BC-1953C7ADF5B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CD80-8AE9-4355-89C3-A65FB6DEF77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89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FAB-C0F6-476B-B5BC-1953C7ADF5B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CD80-8AE9-4355-89C3-A65FB6DEF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7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FAB-C0F6-476B-B5BC-1953C7ADF5B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CD80-8AE9-4355-89C3-A65FB6DEF77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903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FAB-C0F6-476B-B5BC-1953C7ADF5B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CD80-8AE9-4355-89C3-A65FB6DEF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35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FAB-C0F6-476B-B5BC-1953C7ADF5B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CD80-8AE9-4355-89C3-A65FB6DEF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1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FAB-C0F6-476B-B5BC-1953C7ADF5B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CD80-8AE9-4355-89C3-A65FB6DEF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6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FAB-C0F6-476B-B5BC-1953C7ADF5B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CD80-8AE9-4355-89C3-A65FB6DEF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12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DFBDFAB-C0F6-476B-B5BC-1953C7ADF5B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F0CD80-8AE9-4355-89C3-A65FB6DEF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FAB-C0F6-476B-B5BC-1953C7ADF5B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CD80-8AE9-4355-89C3-A65FB6DEF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9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FAB-C0F6-476B-B5BC-1953C7ADF5B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CD80-8AE9-4355-89C3-A65FB6DEF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95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BDFAB-C0F6-476B-B5BC-1953C7ADF5B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0CD80-8AE9-4355-89C3-A65FB6DEF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35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DFBDFAB-C0F6-476B-B5BC-1953C7ADF5B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0F0CD80-8AE9-4355-89C3-A65FB6DEF77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321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F300-267F-1194-DC69-F254A319A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463627"/>
            <a:ext cx="10058400" cy="284948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>
                <a:solidFill>
                  <a:schemeClr val="accent2"/>
                </a:solidFill>
              </a:rPr>
              <a:t>Kiểm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thử</a:t>
            </a:r>
            <a:r>
              <a:rPr lang="en-US" b="1" dirty="0">
                <a:solidFill>
                  <a:schemeClr val="accent2"/>
                </a:solidFill>
              </a:rPr>
              <a:t> website </a:t>
            </a:r>
            <a:r>
              <a:rPr lang="en-US" b="1" dirty="0" err="1">
                <a:solidFill>
                  <a:schemeClr val="accent2"/>
                </a:solidFill>
              </a:rPr>
              <a:t>thương</a:t>
            </a:r>
            <a:r>
              <a:rPr lang="en-US" b="1" dirty="0">
                <a:solidFill>
                  <a:schemeClr val="accent2"/>
                </a:solidFill>
              </a:rPr>
              <a:t>      </a:t>
            </a:r>
            <a:r>
              <a:rPr lang="en-US" b="1" dirty="0" err="1">
                <a:solidFill>
                  <a:schemeClr val="accent2"/>
                </a:solidFill>
              </a:rPr>
              <a:t>mại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điện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tử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kinh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doanh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quần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áo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thời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trang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5C9DD-2294-97A0-C461-998A8A6D9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517" y="4413782"/>
            <a:ext cx="8622890" cy="178701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Thành </a:t>
            </a:r>
            <a:r>
              <a:rPr lang="en-US" dirty="0" err="1"/>
              <a:t>viên</a:t>
            </a:r>
            <a:r>
              <a:rPr lang="en-US" dirty="0"/>
              <a:t>:</a:t>
            </a:r>
          </a:p>
          <a:p>
            <a:pPr algn="just"/>
            <a:r>
              <a:rPr lang="en-US" dirty="0"/>
              <a:t>Phạm Thanh Phong – 3122411151</a:t>
            </a:r>
          </a:p>
          <a:p>
            <a:pPr algn="just"/>
            <a:r>
              <a:rPr lang="en-US" dirty="0"/>
              <a:t>Trần Hữu Nam - 3122411131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947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5F81-F171-F3DC-3ECE-7C8D29FE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FEC96-92C5-75E6-C9EF-6AFA8A35C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Đối tượng kiểm thử Hệ thống: </a:t>
            </a:r>
            <a:r>
              <a:rPr lang="vi-VN" dirty="0" err="1"/>
              <a:t>Website</a:t>
            </a:r>
            <a:r>
              <a:rPr lang="vi-VN" dirty="0"/>
              <a:t> Thương mại điện tử kinh doanh quần áo </a:t>
            </a:r>
            <a:endParaRPr lang="en-US" dirty="0"/>
          </a:p>
          <a:p>
            <a:r>
              <a:rPr lang="vi-VN" dirty="0"/>
              <a:t>Người dùng: Hệ thống phục vụ 3 nhóm đối tượng chính: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000" dirty="0"/>
              <a:t>Khách hàng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000" dirty="0"/>
              <a:t>Nhân viên bán hàng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000" dirty="0"/>
              <a:t>Quản trị viên (</a:t>
            </a:r>
            <a:r>
              <a:rPr lang="vi-VN" sz="2000" dirty="0" err="1"/>
              <a:t>Admin</a:t>
            </a:r>
            <a:r>
              <a:rPr lang="en-US" sz="2000" dirty="0"/>
              <a:t>)</a:t>
            </a:r>
            <a:r>
              <a:rPr lang="vi-VN" sz="2000" dirty="0"/>
              <a:t>.</a:t>
            </a:r>
            <a:endParaRPr lang="en-US" sz="2000" dirty="0"/>
          </a:p>
          <a:p>
            <a:pPr marL="201168" lvl="1" indent="0">
              <a:buNone/>
            </a:pPr>
            <a:endParaRPr lang="en-US" sz="2000" dirty="0"/>
          </a:p>
          <a:p>
            <a:pPr marL="201168" lvl="1" indent="0">
              <a:buNone/>
            </a:pPr>
            <a:r>
              <a:rPr lang="en-US" sz="2000" dirty="0" err="1"/>
              <a:t>Đặc</a:t>
            </a:r>
            <a:r>
              <a:rPr lang="en-US" sz="2000" dirty="0"/>
              <a:t> </a:t>
            </a:r>
            <a:r>
              <a:rPr lang="en-US" sz="2000" dirty="0" err="1"/>
              <a:t>điểm</a:t>
            </a:r>
            <a:r>
              <a:rPr lang="en-US" sz="2000" dirty="0"/>
              <a:t> </a:t>
            </a:r>
            <a:r>
              <a:rPr lang="en-US" sz="2000" dirty="0" err="1"/>
              <a:t>kỹ</a:t>
            </a:r>
            <a:r>
              <a:rPr lang="en-US" sz="2000" dirty="0"/>
              <a:t> </a:t>
            </a:r>
            <a:r>
              <a:rPr lang="en-US" sz="2000" dirty="0" err="1"/>
              <a:t>thuật</a:t>
            </a:r>
            <a:r>
              <a:rPr lang="en-US" sz="20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000" dirty="0"/>
              <a:t>Mô hình </a:t>
            </a:r>
            <a:r>
              <a:rPr lang="vi-VN" sz="2000" dirty="0" err="1"/>
              <a:t>Fullstack</a:t>
            </a:r>
            <a:r>
              <a:rPr lang="vi-VN" sz="2000" dirty="0"/>
              <a:t> hoàn chỉnh: </a:t>
            </a:r>
            <a:r>
              <a:rPr lang="vi-VN" sz="2000" dirty="0" err="1"/>
              <a:t>Frontend</a:t>
            </a:r>
            <a:r>
              <a:rPr lang="vi-VN" sz="2000" dirty="0"/>
              <a:t> (</a:t>
            </a:r>
            <a:r>
              <a:rPr lang="vi-VN" sz="2000" dirty="0" err="1"/>
              <a:t>ReactJS</a:t>
            </a:r>
            <a:r>
              <a:rPr lang="vi-VN" sz="2000" dirty="0"/>
              <a:t>), </a:t>
            </a:r>
            <a:r>
              <a:rPr lang="vi-VN" sz="2000" dirty="0" err="1"/>
              <a:t>Backend</a:t>
            </a:r>
            <a:r>
              <a:rPr lang="vi-VN" sz="2000" dirty="0"/>
              <a:t> (</a:t>
            </a:r>
            <a:r>
              <a:rPr lang="vi-VN" sz="2000" dirty="0" err="1"/>
              <a:t>NodeJS</a:t>
            </a:r>
            <a:r>
              <a:rPr lang="vi-VN" sz="2000" dirty="0"/>
              <a:t>), </a:t>
            </a:r>
            <a:r>
              <a:rPr lang="vi-VN" sz="2000" dirty="0" err="1"/>
              <a:t>Database</a:t>
            </a:r>
            <a:r>
              <a:rPr lang="vi-VN" sz="2000" dirty="0"/>
              <a:t> (</a:t>
            </a:r>
            <a:r>
              <a:rPr lang="vi-VN" sz="2000" dirty="0" err="1"/>
              <a:t>MySQL</a:t>
            </a:r>
            <a:r>
              <a:rPr lang="vi-VN" sz="2000" dirty="0"/>
              <a:t>).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000" dirty="0"/>
              <a:t>Tích hợp dịch vụ bên thứ 3: Cổng thanh toán trực tuyến, Đơn vị vận chuyển (GHN)</a:t>
            </a:r>
            <a:endParaRPr lang="en-US" sz="2000" dirty="0"/>
          </a:p>
          <a:p>
            <a:pPr marL="201168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652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F78A4-8F04-8BA4-E39C-D32637FE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Tổng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endParaRPr lang="en-US" b="1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33CDA0D-12D9-739B-D1EE-C53C44673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: Website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quần</a:t>
            </a:r>
            <a:r>
              <a:rPr lang="en-US" dirty="0"/>
              <a:t> </a:t>
            </a:r>
            <a:r>
              <a:rPr lang="en-US" dirty="0" err="1"/>
              <a:t>áo</a:t>
            </a:r>
            <a:endParaRPr lang="en-US" dirty="0"/>
          </a:p>
          <a:p>
            <a:r>
              <a:rPr lang="vi-VN" dirty="0"/>
              <a:t>Tương tác người dùng: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hang,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,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hang</a:t>
            </a:r>
          </a:p>
          <a:p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chuyển</a:t>
            </a:r>
            <a:endParaRPr lang="en-US" dirty="0"/>
          </a:p>
        </p:txBody>
      </p:sp>
      <p:pic>
        <p:nvPicPr>
          <p:cNvPr id="14" name="Picture 13" descr="A diagram of a website&#10;&#10;AI-generated content may be incorrect.">
            <a:extLst>
              <a:ext uri="{FF2B5EF4-FFF2-40B4-BE49-F238E27FC236}">
                <a16:creationId xmlns:a16="http://schemas.microsoft.com/office/drawing/2014/main" id="{7AD57854-267B-9707-2C3C-61B2506357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609" y="2766802"/>
            <a:ext cx="5943600" cy="26498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5768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5E3B-FBC4-A8E4-1F0E-01B780E1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endParaRPr lang="en-US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DACBF5-9425-F59E-2261-41BCD07C2F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814" y="2461356"/>
            <a:ext cx="6566902" cy="30141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0230AF3-9B84-4C6B-ECAB-FACE0CA20967}"/>
              </a:ext>
            </a:extLst>
          </p:cNvPr>
          <p:cNvSpPr txBox="1">
            <a:spLocks/>
          </p:cNvSpPr>
          <p:nvPr/>
        </p:nvSpPr>
        <p:spPr>
          <a:xfrm>
            <a:off x="323814" y="1831908"/>
            <a:ext cx="10895341" cy="42730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17CCB21-4B3A-0FFF-9E0A-6177F6581F2B}"/>
              </a:ext>
            </a:extLst>
          </p:cNvPr>
          <p:cNvSpPr txBox="1">
            <a:spLocks/>
          </p:cNvSpPr>
          <p:nvPr/>
        </p:nvSpPr>
        <p:spPr>
          <a:xfrm>
            <a:off x="1097280" y="1907409"/>
            <a:ext cx="1174738" cy="3775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err="1"/>
              <a:t>Sơ</a:t>
            </a:r>
            <a:r>
              <a:rPr lang="en-US" sz="2000" b="1" dirty="0"/>
              <a:t> </a:t>
            </a:r>
            <a:r>
              <a:rPr lang="en-US" sz="2000" b="1" dirty="0" err="1"/>
              <a:t>đồ</a:t>
            </a:r>
            <a:r>
              <a:rPr lang="en-US" sz="2000" b="1" dirty="0"/>
              <a:t> </a:t>
            </a:r>
            <a:r>
              <a:rPr lang="en-US" sz="2000" b="1" dirty="0" err="1"/>
              <a:t>khối</a:t>
            </a:r>
            <a:endParaRPr lang="en-US" sz="2000" b="1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E58C843-FF9D-4724-8E82-E55D0D0E0686}"/>
              </a:ext>
            </a:extLst>
          </p:cNvPr>
          <p:cNvSpPr txBox="1">
            <a:spLocks/>
          </p:cNvSpPr>
          <p:nvPr/>
        </p:nvSpPr>
        <p:spPr>
          <a:xfrm>
            <a:off x="7279967" y="2096161"/>
            <a:ext cx="1436335" cy="5033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C4</a:t>
            </a:r>
          </a:p>
          <a:p>
            <a:endParaRPr lang="en-US" b="1" dirty="0"/>
          </a:p>
          <a:p>
            <a:r>
              <a:rPr lang="en-US" b="1" dirty="0"/>
              <a:t>C1. Context Diagram</a:t>
            </a:r>
            <a:endParaRPr lang="en-US" sz="2000" b="1" dirty="0"/>
          </a:p>
        </p:txBody>
      </p:sp>
      <p:pic>
        <p:nvPicPr>
          <p:cNvPr id="14" name="Picture 13" descr="A diagram of a person's conversation&#10;&#10;AI-generated content may be incorrect.">
            <a:extLst>
              <a:ext uri="{FF2B5EF4-FFF2-40B4-BE49-F238E27FC236}">
                <a16:creationId xmlns:a16="http://schemas.microsoft.com/office/drawing/2014/main" id="{3179E831-BF0B-18CC-F3BB-BBF551410B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191" y="2756057"/>
            <a:ext cx="4677561" cy="31246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6749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33BA-013A-5BEC-9AD1-82BB9780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7B693-4C82-627A-E607-5D792D4E3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21179"/>
            <a:ext cx="10058400" cy="4023360"/>
          </a:xfrm>
        </p:spPr>
        <p:txBody>
          <a:bodyPr/>
          <a:lstStyle/>
          <a:p>
            <a:r>
              <a:rPr lang="en-US" b="1" dirty="0"/>
              <a:t>C2 Container Diagram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15EB87E-C885-6C5C-A9A8-80EFE93BF2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841" y="2390862"/>
            <a:ext cx="3830273" cy="338915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3A1F653-5FD7-6C2D-5024-1E746800F7C6}"/>
              </a:ext>
            </a:extLst>
          </p:cNvPr>
          <p:cNvSpPr txBox="1">
            <a:spLocks/>
          </p:cNvSpPr>
          <p:nvPr/>
        </p:nvSpPr>
        <p:spPr>
          <a:xfrm>
            <a:off x="6910849" y="1979802"/>
            <a:ext cx="2358986" cy="4110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C3 Component Diagram</a:t>
            </a:r>
          </a:p>
          <a:p>
            <a:endParaRPr lang="en-US" sz="2000" b="1" dirty="0"/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5CEA1617-4242-E22D-26AF-AAF7BAE87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077" y="2549485"/>
            <a:ext cx="5164123" cy="36685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1091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5DBB-3D0A-DFC8-9CA4-FEE77BE2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hoạch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chiến</a:t>
            </a:r>
            <a:r>
              <a:rPr lang="en-US" b="1" dirty="0"/>
              <a:t> </a:t>
            </a:r>
            <a:r>
              <a:rPr lang="en-US" b="1" dirty="0" err="1"/>
              <a:t>lược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thử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E9B935-2F1F-5F8F-83E2-F33A1BB3A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Phạm vi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endParaRPr lang="en-US" dirty="0"/>
          </a:p>
        </p:txBody>
      </p:sp>
      <p:graphicFrame>
        <p:nvGraphicFramePr>
          <p:cNvPr id="7" name="Content Placeholder 9">
            <a:extLst>
              <a:ext uri="{FF2B5EF4-FFF2-40B4-BE49-F238E27FC236}">
                <a16:creationId xmlns:a16="http://schemas.microsoft.com/office/drawing/2014/main" id="{5A1594C7-6241-483B-3653-1FB6CC2BB5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5659635"/>
              </p:ext>
            </p:extLst>
          </p:nvPr>
        </p:nvGraphicFramePr>
        <p:xfrm>
          <a:off x="4488110" y="2110144"/>
          <a:ext cx="607362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414">
                  <a:extLst>
                    <a:ext uri="{9D8B030D-6E8A-4147-A177-3AD203B41FA5}">
                      <a16:colId xmlns:a16="http://schemas.microsoft.com/office/drawing/2014/main" val="2454077076"/>
                    </a:ext>
                  </a:extLst>
                </a:gridCol>
                <a:gridCol w="4733215">
                  <a:extLst>
                    <a:ext uri="{9D8B030D-6E8A-4147-A177-3AD203B41FA5}">
                      <a16:colId xmlns:a16="http://schemas.microsoft.com/office/drawing/2014/main" val="3915248899"/>
                    </a:ext>
                  </a:extLst>
                </a:gridCol>
              </a:tblGrid>
              <a:tr h="349226">
                <a:tc>
                  <a:txBody>
                    <a:bodyPr/>
                    <a:lstStyle/>
                    <a:p>
                      <a:r>
                        <a:rPr lang="en-US" dirty="0" err="1"/>
                        <a:t>Khía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cạnh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 </a:t>
                      </a:r>
                      <a:r>
                        <a:rPr lang="en-US" dirty="0" err="1"/>
                        <a:t>tiết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triển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khai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917324"/>
                  </a:ext>
                </a:extLst>
              </a:tr>
              <a:tr h="1134985">
                <a:tc>
                  <a:txBody>
                    <a:bodyPr/>
                    <a:lstStyle/>
                    <a:p>
                      <a:r>
                        <a:rPr lang="en-US" dirty="0" err="1"/>
                        <a:t>Kiến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trúc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• Frontend: React.js (User &amp; Admin UI) </a:t>
                      </a:r>
                      <a:br>
                        <a:rPr lang="en-US" dirty="0"/>
                      </a:br>
                      <a:r>
                        <a:rPr lang="en-US" dirty="0"/>
                        <a:t>• Backend: Node.js/Express API </a:t>
                      </a:r>
                      <a:br>
                        <a:rPr lang="en-US" dirty="0"/>
                      </a:br>
                      <a:r>
                        <a:rPr lang="en-US" dirty="0"/>
                        <a:t>• Database: MySQL </a:t>
                      </a:r>
                      <a:br>
                        <a:rPr lang="en-US" dirty="0"/>
                      </a:br>
                      <a:r>
                        <a:rPr lang="en-US" dirty="0"/>
                        <a:t>• Infra: Docker, CI/CD (GitHub Actions)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475222"/>
                  </a:ext>
                </a:extLst>
              </a:tr>
              <a:tr h="1134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Loại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thử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• Functional: </a:t>
                      </a:r>
                      <a:r>
                        <a:rPr lang="en-US" dirty="0" err="1"/>
                        <a:t>nghiệp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vụ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hàng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quản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lý</a:t>
                      </a:r>
                      <a:r>
                        <a:rPr lang="en-US" dirty="0"/>
                        <a:t> </a:t>
                      </a:r>
                      <a:br>
                        <a:rPr lang="en-US" dirty="0"/>
                      </a:br>
                      <a:r>
                        <a:rPr lang="en-US" dirty="0"/>
                        <a:t>• Non-functional: </a:t>
                      </a:r>
                      <a:r>
                        <a:rPr lang="en-US" dirty="0" err="1"/>
                        <a:t>hiệu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năng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bảo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mật</a:t>
                      </a:r>
                      <a:r>
                        <a:rPr lang="en-US" dirty="0"/>
                        <a:t>, UX </a:t>
                      </a:r>
                      <a:br>
                        <a:rPr lang="en-US" dirty="0"/>
                      </a:br>
                      <a:r>
                        <a:rPr lang="en-US" dirty="0"/>
                        <a:t>• Integration: </a:t>
                      </a:r>
                      <a:r>
                        <a:rPr lang="en-US" dirty="0" err="1"/>
                        <a:t>kết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nối</a:t>
                      </a:r>
                      <a:r>
                        <a:rPr lang="en-US" dirty="0"/>
                        <a:t> API, Database </a:t>
                      </a:r>
                      <a:br>
                        <a:rPr lang="en-US" dirty="0"/>
                      </a:br>
                      <a:r>
                        <a:rPr lang="en-US" dirty="0"/>
                        <a:t>• Regression: </a:t>
                      </a:r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hồi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quy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94412"/>
                  </a:ext>
                </a:extLst>
              </a:tr>
              <a:tr h="873065">
                <a:tc>
                  <a:txBody>
                    <a:bodyPr/>
                    <a:lstStyle/>
                    <a:p>
                      <a:r>
                        <a:rPr lang="vi-VN" dirty="0"/>
                        <a:t>Môi trường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• Dev: Local (Docker Compose) </a:t>
                      </a:r>
                      <a:br>
                        <a:rPr lang="en-US" dirty="0"/>
                      </a:br>
                      <a:r>
                        <a:rPr lang="en-US" dirty="0"/>
                        <a:t>• CI: GitHub Actions </a:t>
                      </a:r>
                      <a:br>
                        <a:rPr lang="en-US" dirty="0"/>
                      </a:br>
                      <a:r>
                        <a:rPr lang="en-US" dirty="0"/>
                        <a:t>• Staging/UAT: Cloud, </a:t>
                      </a:r>
                      <a:r>
                        <a:rPr lang="en-US" dirty="0" err="1"/>
                        <a:t>dữ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liệu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thực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tế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875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243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29C03-9848-EFF8-6B42-F00C4E15F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QUY TRÌNH THIẾT KẾ KIỂM THỬ V-MODEL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9AA086B-286A-A8BA-29C1-5E80C3B210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4873350"/>
              </p:ext>
            </p:extLst>
          </p:nvPr>
        </p:nvGraphicFramePr>
        <p:xfrm>
          <a:off x="1096963" y="1846263"/>
          <a:ext cx="10058397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2548407111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3272827296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9141317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Giai </a:t>
                      </a:r>
                      <a:r>
                        <a:rPr lang="en-US" dirty="0" err="1"/>
                        <a:t>đoạn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Phát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triển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Giai </a:t>
                      </a:r>
                      <a:r>
                        <a:rPr lang="en-US" dirty="0" err="1"/>
                        <a:t>đoạn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thử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 </a:t>
                      </a:r>
                      <a:r>
                        <a:rPr lang="en-US" dirty="0" err="1"/>
                        <a:t>tiết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thực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hiện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844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tích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yêu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cầu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Chấp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nhận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minh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tiêu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chấp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nhận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luồng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Đăng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nhập</a:t>
                      </a:r>
                      <a:r>
                        <a:rPr lang="en-US" dirty="0"/>
                        <a:t>, Mua </a:t>
                      </a:r>
                      <a:r>
                        <a:rPr lang="en-US" dirty="0" err="1"/>
                        <a:t>hàng</a:t>
                      </a:r>
                      <a:r>
                        <a:rPr lang="en-US" dirty="0"/>
                        <a:t>, Thanh </a:t>
                      </a:r>
                      <a:r>
                        <a:rPr lang="en-US" dirty="0" err="1"/>
                        <a:t>toán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192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Thiết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thống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thống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thử</a:t>
                      </a:r>
                      <a:r>
                        <a:rPr lang="en-US" dirty="0"/>
                        <a:t> End-to-End (E2E) </a:t>
                      </a:r>
                      <a:r>
                        <a:rPr lang="en-US" dirty="0" err="1"/>
                        <a:t>toàn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luồng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nghiệp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vụ</a:t>
                      </a:r>
                      <a:r>
                        <a:rPr lang="en-US" dirty="0"/>
                        <a:t> qua </a:t>
                      </a:r>
                      <a:r>
                        <a:rPr lang="en-US" dirty="0" err="1"/>
                        <a:t>giao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710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Thiết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Kiến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trúc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Tích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hợp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giao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tiếp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giữa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tầng</a:t>
                      </a:r>
                      <a:r>
                        <a:rPr lang="en-US" dirty="0"/>
                        <a:t>: Controller - Service - Repository -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626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Thiết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kế</a:t>
                      </a:r>
                      <a:r>
                        <a:rPr lang="en-US" dirty="0"/>
                        <a:t>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Kiểm thử Đơn vị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</a:t>
                      </a:r>
                      <a:r>
                        <a:rPr lang="en-US" dirty="0"/>
                        <a:t> logic </a:t>
                      </a:r>
                      <a:r>
                        <a:rPr lang="en-US" dirty="0" err="1"/>
                        <a:t>nội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từng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hàm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xử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lý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lỗi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nhánh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điều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kiện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798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Thực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Hộp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trắng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tích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đồ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dòng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điều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khiển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phủ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mã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735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29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85F0-E556-A76E-6BDB-1EFF8A605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thử</a:t>
            </a:r>
            <a:r>
              <a:rPr lang="en-US" b="1" dirty="0"/>
              <a:t> </a:t>
            </a:r>
            <a:r>
              <a:rPr lang="en-US" b="1" dirty="0" err="1"/>
              <a:t>hộp</a:t>
            </a:r>
            <a:r>
              <a:rPr lang="en-US" b="1" dirty="0"/>
              <a:t> </a:t>
            </a:r>
            <a:r>
              <a:rPr lang="en-US" b="1" dirty="0" err="1"/>
              <a:t>đen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467EF-A880-A3F1-5994-18B395802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6070" y="1845734"/>
            <a:ext cx="9989610" cy="40233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 </a:t>
            </a:r>
            <a:r>
              <a:rPr lang="vi-VN" dirty="0"/>
              <a:t>Phân vùng tương đương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Nguyên lý: Chia dữ liệu đầu vào thành các lớp tương đương (Hợp lệ &amp; Không hợp lệ) để giảm số lượng </a:t>
            </a:r>
            <a:r>
              <a:rPr lang="vi-VN" dirty="0" err="1"/>
              <a:t>test</a:t>
            </a:r>
            <a:r>
              <a:rPr lang="vi-VN" dirty="0"/>
              <a:t> </a:t>
            </a:r>
            <a:r>
              <a:rPr lang="vi-VN" dirty="0" err="1"/>
              <a:t>case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biên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Nguyên lý: Tập trung kiểm tra tại các điểm biên (Min, </a:t>
            </a:r>
            <a:r>
              <a:rPr lang="vi-VN" dirty="0" err="1"/>
              <a:t>Max</a:t>
            </a:r>
            <a:r>
              <a:rPr lang="vi-VN" dirty="0"/>
              <a:t>, biên trên, biên dưới) vì đây là nơi dễ phát sinh lỗi nhất.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Nguyên </a:t>
            </a:r>
            <a:r>
              <a:rPr lang="en-US" dirty="0" err="1"/>
              <a:t>lý</a:t>
            </a:r>
            <a:r>
              <a:rPr lang="en-US" dirty="0"/>
              <a:t>: </a:t>
            </a:r>
            <a:r>
              <a:rPr lang="en-US" dirty="0" err="1"/>
              <a:t>Liệt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logic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endParaRPr lang="en-US" dirty="0"/>
          </a:p>
          <a:p>
            <a:pPr marL="0" indent="0">
              <a:buNone/>
            </a:pPr>
            <a:r>
              <a:rPr lang="vi-VN" dirty="0"/>
              <a:t>Nguyên lý: Kiểm tra sự thay đổi trạng thái của đối tượng trong các luồng nghiệp vụ.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269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0341B-FC34-AFD3-70E9-B8064176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33140"/>
          </a:xfrm>
        </p:spPr>
        <p:txBody>
          <a:bodyPr/>
          <a:lstStyle/>
          <a:p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thử</a:t>
            </a:r>
            <a:r>
              <a:rPr lang="en-US" b="1" dirty="0"/>
              <a:t> </a:t>
            </a:r>
            <a:r>
              <a:rPr lang="en-US" b="1" dirty="0" err="1"/>
              <a:t>hộp</a:t>
            </a:r>
            <a:r>
              <a:rPr lang="en-US" b="1" dirty="0"/>
              <a:t> </a:t>
            </a:r>
            <a:r>
              <a:rPr lang="en-US" b="1" dirty="0" err="1"/>
              <a:t>trắng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977B9-00CF-2EB3-6CA9-CE62BBD88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7523"/>
            <a:ext cx="4355564" cy="4454554"/>
          </a:xfrm>
        </p:spPr>
        <p:txBody>
          <a:bodyPr/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hộp</a:t>
            </a:r>
            <a:r>
              <a:rPr lang="en-US" dirty="0"/>
              <a:t> </a:t>
            </a:r>
            <a:r>
              <a:rPr lang="en-US" dirty="0" err="1"/>
              <a:t>trắng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logic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test case. Trong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,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hộp</a:t>
            </a:r>
            <a:r>
              <a:rPr lang="en-US" dirty="0"/>
              <a:t> </a:t>
            </a:r>
            <a:r>
              <a:rPr lang="en-US" dirty="0" err="1"/>
              <a:t>trắng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tích</a:t>
            </a:r>
            <a:r>
              <a:rPr lang="en-US" b="1" dirty="0"/>
              <a:t> </a:t>
            </a:r>
            <a:r>
              <a:rPr lang="en-US" b="1" dirty="0" err="1"/>
              <a:t>đồ</a:t>
            </a:r>
            <a:r>
              <a:rPr lang="en-US" b="1" dirty="0"/>
              <a:t> </a:t>
            </a:r>
            <a:r>
              <a:rPr lang="en-US" b="1" dirty="0" err="1"/>
              <a:t>thị</a:t>
            </a:r>
            <a:r>
              <a:rPr lang="en-US" b="1" dirty="0"/>
              <a:t> </a:t>
            </a:r>
            <a:r>
              <a:rPr lang="en-US" b="1" dirty="0" err="1"/>
              <a:t>dòng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khiển</a:t>
            </a:r>
            <a:r>
              <a:rPr lang="en-US" b="1" dirty="0"/>
              <a:t> (CFG)</a:t>
            </a:r>
          </a:p>
          <a:p>
            <a:endParaRPr lang="en-US" dirty="0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6156016-14AC-FE7B-5976-13B65D834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511" y="1820411"/>
            <a:ext cx="5475560" cy="435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96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B8D6B-B2E9-6254-CA58-1B9B1FEE6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thử</a:t>
            </a:r>
            <a:r>
              <a:rPr lang="en-US" b="1" dirty="0"/>
              <a:t> </a:t>
            </a:r>
            <a:r>
              <a:rPr lang="en-US" b="1" dirty="0" err="1"/>
              <a:t>hộp</a:t>
            </a:r>
            <a:r>
              <a:rPr lang="en-US" b="1" dirty="0"/>
              <a:t> </a:t>
            </a:r>
            <a:r>
              <a:rPr lang="en-US" b="1" dirty="0" err="1"/>
              <a:t>trắng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3CC41-A200-E7A7-478B-70660E6A3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16544"/>
            <a:ext cx="10058400" cy="4529899"/>
          </a:xfrm>
        </p:spPr>
        <p:txBody>
          <a:bodyPr/>
          <a:lstStyle/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, ta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</a:p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61345-2F85-61BA-840D-2719F6988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666" y="2508307"/>
            <a:ext cx="4246400" cy="373813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F6C021-4234-16D7-E9BF-AB56CE2A9A7F}"/>
              </a:ext>
            </a:extLst>
          </p:cNvPr>
          <p:cNvSpPr txBox="1">
            <a:spLocks/>
          </p:cNvSpPr>
          <p:nvPr/>
        </p:nvSpPr>
        <p:spPr>
          <a:xfrm>
            <a:off x="6459629" y="1737360"/>
            <a:ext cx="5257800" cy="450908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phức</a:t>
            </a:r>
            <a:r>
              <a:rPr lang="en-US" b="1" dirty="0"/>
              <a:t> </a:t>
            </a:r>
            <a:r>
              <a:rPr lang="en-US" b="1" dirty="0" err="1"/>
              <a:t>tạp</a:t>
            </a:r>
            <a:r>
              <a:rPr lang="en-US" b="1" dirty="0"/>
              <a:t> Cyclomatic</a:t>
            </a:r>
          </a:p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(E): 11</a:t>
            </a:r>
          </a:p>
          <a:p>
            <a:pPr lvl="0"/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(N): 9</a:t>
            </a:r>
          </a:p>
          <a:p>
            <a:pPr lvl="0"/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(P): 1</a:t>
            </a:r>
          </a:p>
          <a:p>
            <a:pPr lvl="0"/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cyclomatic: M = E - N + 2P = 11 - 9 + 2 = 4</a:t>
            </a:r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4 test case </a:t>
            </a:r>
            <a:r>
              <a:rPr lang="en-US" dirty="0" err="1"/>
              <a:t>để</a:t>
            </a:r>
            <a:r>
              <a:rPr lang="en-US" dirty="0"/>
              <a:t> bao </a:t>
            </a:r>
            <a:r>
              <a:rPr lang="en-US" dirty="0" err="1"/>
              <a:t>phủ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09328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60ACA-E887-D233-10AF-514FADBA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hộp</a:t>
            </a:r>
            <a:r>
              <a:rPr lang="en-US" dirty="0"/>
              <a:t> </a:t>
            </a:r>
            <a:r>
              <a:rPr lang="en-US" dirty="0" err="1"/>
              <a:t>trắng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B139-6E65-948E-4752-D6A8E2F76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189494" cy="402336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CFG, ta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4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Đường</a:t>
            </a:r>
            <a:r>
              <a:rPr lang="en-US" dirty="0"/>
              <a:t> 1: 1 → 2 (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)</a:t>
            </a:r>
          </a:p>
          <a:p>
            <a:pPr lvl="0"/>
            <a:r>
              <a:rPr lang="en-US" dirty="0" err="1"/>
              <a:t>Đường</a:t>
            </a:r>
            <a:r>
              <a:rPr lang="en-US" dirty="0"/>
              <a:t> 2: 1 → 2 → 3 → 6 → 7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voucher,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)</a:t>
            </a:r>
          </a:p>
          <a:p>
            <a:pPr lvl="0"/>
            <a:r>
              <a:rPr lang="en-US" dirty="0" err="1"/>
              <a:t>Đường</a:t>
            </a:r>
            <a:r>
              <a:rPr lang="en-US" dirty="0"/>
              <a:t> 3: 1 → 2 → 3 → 4 → 6 → 7 (voucher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trăm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vượt</a:t>
            </a:r>
            <a:r>
              <a:rPr lang="en-US" dirty="0"/>
              <a:t> max)</a:t>
            </a:r>
          </a:p>
          <a:p>
            <a:pPr lvl="0"/>
            <a:r>
              <a:rPr lang="en-US" dirty="0" err="1"/>
              <a:t>Đường</a:t>
            </a:r>
            <a:r>
              <a:rPr lang="en-US" dirty="0"/>
              <a:t> 4: 1 → 2 → 3 → 5 → 6 → 7 (voucher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vượt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03B2F6-29B6-F1C7-F4F6-8DC853067849}"/>
              </a:ext>
            </a:extLst>
          </p:cNvPr>
          <p:cNvSpPr txBox="1">
            <a:spLocks/>
          </p:cNvSpPr>
          <p:nvPr/>
        </p:nvSpPr>
        <p:spPr>
          <a:xfrm>
            <a:off x="4924338" y="1762683"/>
            <a:ext cx="6316909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, ta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test case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9307B0C1-AF67-AF42-0488-418AA7EBB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290" y="2181138"/>
            <a:ext cx="4341628" cy="391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34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7679-A19D-126F-55AE-E7978C23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thử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vị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thử</a:t>
            </a:r>
            <a:r>
              <a:rPr lang="en-US" b="1" dirty="0"/>
              <a:t> </a:t>
            </a:r>
            <a:r>
              <a:rPr lang="en-US" b="1" dirty="0" err="1"/>
              <a:t>tích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AD43E-B883-5F1B-1904-2F9B67D86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1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thử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vị</a:t>
            </a:r>
            <a:endParaRPr lang="en-US" b="1" dirty="0"/>
          </a:p>
          <a:p>
            <a:pPr lvl="0"/>
            <a:r>
              <a:rPr lang="en-US" dirty="0"/>
              <a:t>Công </a:t>
            </a:r>
            <a:r>
              <a:rPr lang="en-US" dirty="0" err="1"/>
              <a:t>cụ</a:t>
            </a:r>
            <a:r>
              <a:rPr lang="en-US" dirty="0"/>
              <a:t>: Jest </a:t>
            </a:r>
            <a:r>
              <a:rPr lang="en-US" dirty="0" err="1"/>
              <a:t>cho</a:t>
            </a:r>
            <a:r>
              <a:rPr lang="en-US" dirty="0"/>
              <a:t> backend, Jest + React Testing Library </a:t>
            </a:r>
            <a:r>
              <a:rPr lang="en-US" dirty="0" err="1"/>
              <a:t>cho</a:t>
            </a:r>
            <a:r>
              <a:rPr lang="en-US" dirty="0"/>
              <a:t> frontend</a:t>
            </a:r>
          </a:p>
          <a:p>
            <a:pPr lvl="0"/>
            <a:r>
              <a:rPr lang="en-US" dirty="0"/>
              <a:t>Phạm vi: Các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, service, component React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: Đạt coverage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80%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file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endParaRPr lang="en-US" dirty="0"/>
          </a:p>
          <a:p>
            <a:pPr marL="0" lvl="0" indent="0">
              <a:buNone/>
            </a:pPr>
            <a:r>
              <a:rPr lang="en-US" b="1" dirty="0"/>
              <a:t>2.Kiểm </a:t>
            </a:r>
            <a:r>
              <a:rPr lang="en-US" b="1" dirty="0" err="1"/>
              <a:t>thử</a:t>
            </a:r>
            <a:r>
              <a:rPr lang="en-US" b="1" dirty="0"/>
              <a:t> </a:t>
            </a:r>
            <a:r>
              <a:rPr lang="en-US" b="1" dirty="0" err="1"/>
              <a:t>tích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endParaRPr lang="en-US" b="1" dirty="0"/>
          </a:p>
          <a:p>
            <a:pPr lvl="0"/>
            <a:r>
              <a:rPr lang="en-US" dirty="0"/>
              <a:t>Công </a:t>
            </a:r>
            <a:r>
              <a:rPr lang="en-US" dirty="0" err="1"/>
              <a:t>cụ</a:t>
            </a:r>
            <a:r>
              <a:rPr lang="en-US" dirty="0"/>
              <a:t>: </a:t>
            </a:r>
            <a:r>
              <a:rPr lang="en-US" dirty="0" err="1"/>
              <a:t>Supertest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API testing, Jest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service</a:t>
            </a:r>
          </a:p>
          <a:p>
            <a:pPr lvl="0"/>
            <a:r>
              <a:rPr lang="en-US" dirty="0"/>
              <a:t>Phạm vi: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controller-service-repository, API endpoints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: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qua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tầng</a:t>
            </a:r>
            <a:endParaRPr lang="en-US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611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F98DC-9680-279A-54F0-9A81D79BD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CI/CD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11065-4A6E-BFD5-F4DD-F80A8D861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629142" cy="402336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CI/CD </a:t>
            </a:r>
            <a:r>
              <a:rPr lang="en-US" dirty="0" err="1"/>
              <a:t>thông</a:t>
            </a:r>
            <a:r>
              <a:rPr lang="en-US" dirty="0"/>
              <a:t> qua GitHub Actions.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code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push </a:t>
            </a:r>
            <a:r>
              <a:rPr lang="en-US" dirty="0" err="1"/>
              <a:t>lên</a:t>
            </a:r>
            <a:r>
              <a:rPr lang="en-US" dirty="0"/>
              <a:t> repository, workflow CI/CD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test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7EFE85-6308-C775-FADE-EAE07BFDA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857" y="2269640"/>
            <a:ext cx="6177604" cy="301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510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ABD7-285A-F01C-7DA9-9A6AF988A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Ứng dụng Generative AI (GenAI)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03D4C-2DFE-1590-DAC2-618C0AAA7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GenAI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test case bao </a:t>
            </a:r>
            <a:r>
              <a:rPr lang="en-US" dirty="0" err="1"/>
              <a:t>gồm</a:t>
            </a:r>
            <a:r>
              <a:rPr lang="en-US" dirty="0"/>
              <a:t> 4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r>
              <a:rPr lang="en-US" dirty="0"/>
              <a:t>B1: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, User Story, API Docs</a:t>
            </a:r>
          </a:p>
          <a:p>
            <a:pPr marL="0" indent="0">
              <a:buNone/>
            </a:pPr>
            <a:r>
              <a:rPr lang="en-US" dirty="0"/>
              <a:t>B2:</a:t>
            </a:r>
            <a:r>
              <a:rPr lang="vi-VN" dirty="0"/>
              <a:t>Tương tác với </a:t>
            </a:r>
            <a:r>
              <a:rPr lang="en-US" dirty="0"/>
              <a:t>GenAI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Cung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Test Case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(</a:t>
            </a:r>
            <a:r>
              <a:rPr lang="en-US" dirty="0" err="1"/>
              <a:t>Biên</a:t>
            </a:r>
            <a:r>
              <a:rPr lang="en-US" dirty="0"/>
              <a:t>,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...)</a:t>
            </a:r>
          </a:p>
          <a:p>
            <a:pPr marL="0" indent="0">
              <a:buNone/>
            </a:pPr>
            <a:r>
              <a:rPr lang="en-US" dirty="0"/>
              <a:t>B3: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tinh</a:t>
            </a:r>
            <a:r>
              <a:rPr lang="en-US" dirty="0"/>
              <a:t> </a:t>
            </a:r>
            <a:r>
              <a:rPr lang="en-US" dirty="0" err="1"/>
              <a:t>chỉnh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các</a:t>
            </a:r>
            <a:r>
              <a:rPr lang="en-US" dirty="0"/>
              <a:t> case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/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AI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sót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913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ABA5-E63F-7548-E39E-B6FF2CBF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Ứng dụng Generative AI (GenAI)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F59A8-F87A-B2C0-380D-83AA72838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B4: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(Template)</a:t>
            </a:r>
          </a:p>
          <a:p>
            <a:pPr lvl="0"/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test case</a:t>
            </a:r>
          </a:p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5E47D9-F77E-78B9-9B39-C2179E372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910" y="3154260"/>
            <a:ext cx="7944374" cy="178685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7138B35-DEF0-0515-2930-54E613F6E536}"/>
              </a:ext>
            </a:extLst>
          </p:cNvPr>
          <p:cNvSpPr txBox="1">
            <a:spLocks/>
          </p:cNvSpPr>
          <p:nvPr/>
        </p:nvSpPr>
        <p:spPr>
          <a:xfrm>
            <a:off x="4659245" y="4941115"/>
            <a:ext cx="2115704" cy="3775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test case </a:t>
            </a:r>
            <a:r>
              <a:rPr lang="en-US" dirty="0" err="1"/>
              <a:t>với</a:t>
            </a:r>
            <a:r>
              <a:rPr lang="en-US" dirty="0"/>
              <a:t> GenAI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31535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D46E-A1D0-E8D5-6D18-6B4F2D1B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Báo </a:t>
            </a:r>
            <a:r>
              <a:rPr lang="en-US" b="1" dirty="0" err="1"/>
              <a:t>cáo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thử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D1E9B-74CA-96D1-ECB7-76352E8BB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Backend (snapshot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ecomAPI</a:t>
            </a:r>
            <a:r>
              <a:rPr lang="en-US" dirty="0"/>
              <a:t>/jest-</a:t>
            </a:r>
            <a:r>
              <a:rPr lang="en-US" dirty="0" err="1"/>
              <a:t>results.json</a:t>
            </a:r>
            <a:r>
              <a:rPr lang="en-US" dirty="0"/>
              <a:t>)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test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: </a:t>
            </a:r>
            <a:r>
              <a:rPr lang="en-US" b="1" dirty="0"/>
              <a:t>116</a:t>
            </a:r>
            <a:r>
              <a:rPr lang="en-US" dirty="0"/>
              <a:t> test</a:t>
            </a:r>
          </a:p>
          <a:p>
            <a:pPr lvl="0"/>
            <a:r>
              <a:rPr lang="en-US" dirty="0"/>
              <a:t>PASS: </a:t>
            </a:r>
            <a:r>
              <a:rPr lang="en-US" b="1" dirty="0"/>
              <a:t>109</a:t>
            </a:r>
            <a:r>
              <a:rPr lang="en-US" dirty="0"/>
              <a:t> test (≈ </a:t>
            </a:r>
            <a:r>
              <a:rPr lang="en-US" b="1" dirty="0"/>
              <a:t>94.0%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FAIL: </a:t>
            </a:r>
            <a:r>
              <a:rPr lang="en-US" b="1" dirty="0"/>
              <a:t>0</a:t>
            </a:r>
            <a:r>
              <a:rPr lang="en-US" dirty="0"/>
              <a:t> test</a:t>
            </a:r>
          </a:p>
          <a:p>
            <a:r>
              <a:rPr lang="en-US" dirty="0"/>
              <a:t>Not run (Pending): </a:t>
            </a:r>
            <a:r>
              <a:rPr lang="en-US" b="1" dirty="0"/>
              <a:t>7</a:t>
            </a:r>
            <a:r>
              <a:rPr lang="en-US" dirty="0"/>
              <a:t> test (≈ </a:t>
            </a:r>
            <a:r>
              <a:rPr lang="en-US" b="1" dirty="0"/>
              <a:t>6.0%)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1FBC13-EA2E-7464-0249-340D51C67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756" y="2577254"/>
            <a:ext cx="424942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3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4C470-7E69-EDC6-C7C8-6C200EF8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Báo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lỗi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29739-2B74-08DA-AF4E-BB605680D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994837" cy="4023360"/>
          </a:xfrm>
        </p:spPr>
        <p:txBody>
          <a:bodyPr/>
          <a:lstStyle/>
          <a:p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2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Critical: 0 </a:t>
            </a:r>
            <a:r>
              <a:rPr lang="en-US" dirty="0" err="1"/>
              <a:t>lỗi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High: 1 </a:t>
            </a:r>
            <a:r>
              <a:rPr lang="en-US" dirty="0" err="1"/>
              <a:t>lỗi</a:t>
            </a:r>
            <a:r>
              <a:rPr lang="en-US" dirty="0"/>
              <a:t> (50%).</a:t>
            </a:r>
          </a:p>
          <a:p>
            <a:pPr lvl="0"/>
            <a:r>
              <a:rPr lang="en-US" dirty="0"/>
              <a:t>Medium: 1 </a:t>
            </a:r>
            <a:r>
              <a:rPr lang="en-US" dirty="0" err="1"/>
              <a:t>lỗi</a:t>
            </a:r>
            <a:r>
              <a:rPr lang="en-US" dirty="0"/>
              <a:t> (50%).</a:t>
            </a:r>
          </a:p>
          <a:p>
            <a:pPr lvl="0"/>
            <a:r>
              <a:rPr lang="en-US" dirty="0"/>
              <a:t>Low: 0 </a:t>
            </a:r>
            <a:r>
              <a:rPr lang="en-US" dirty="0" err="1"/>
              <a:t>lỗi</a:t>
            </a:r>
            <a:r>
              <a:rPr lang="en-US" dirty="0"/>
              <a:t>.</a:t>
            </a:r>
          </a:p>
          <a:p>
            <a:r>
              <a:rPr lang="en-US" dirty="0"/>
              <a:t>-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2 </a:t>
            </a:r>
            <a:r>
              <a:rPr lang="en-US" dirty="0" err="1"/>
              <a:t>lỗi</a:t>
            </a:r>
            <a:r>
              <a:rPr lang="en-US" dirty="0"/>
              <a:t> (1 </a:t>
            </a:r>
            <a:r>
              <a:rPr lang="en-US" dirty="0" err="1"/>
              <a:t>lỗi</a:t>
            </a:r>
            <a:r>
              <a:rPr lang="en-US" dirty="0"/>
              <a:t> High </a:t>
            </a:r>
            <a:r>
              <a:rPr lang="en-US" dirty="0" err="1"/>
              <a:t>và</a:t>
            </a:r>
            <a:r>
              <a:rPr lang="en-US" dirty="0"/>
              <a:t> 1 </a:t>
            </a:r>
            <a:r>
              <a:rPr lang="en-US" dirty="0" err="1"/>
              <a:t>lỗi</a:t>
            </a:r>
            <a:r>
              <a:rPr lang="en-US" dirty="0"/>
              <a:t> Medium).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đọng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0 </a:t>
            </a:r>
            <a:r>
              <a:rPr lang="en-US" dirty="0" err="1"/>
              <a:t>lỗi</a:t>
            </a:r>
            <a:r>
              <a:rPr lang="en-US" dirty="0"/>
              <a:t> ở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458D5-B3A9-555C-810F-BCD1F29FB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478" y="1946246"/>
            <a:ext cx="6142370" cy="427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563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05F33-A2DC-44FD-2C40-40842A32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thi</a:t>
            </a:r>
            <a:r>
              <a:rPr lang="en-US" b="1" dirty="0"/>
              <a:t> Pipeline CI/CD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51F9D-D394-9BC9-3143-6CF1A4B1F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657568" cy="428661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Pipeline CI/CD </a:t>
            </a:r>
            <a:r>
              <a:rPr lang="en-US" dirty="0" err="1"/>
              <a:t>trên</a:t>
            </a:r>
            <a:r>
              <a:rPr lang="en-US" dirty="0"/>
              <a:t> GitHub Actions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: PASS (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job </a:t>
            </a:r>
            <a:r>
              <a:rPr lang="en-US" dirty="0" err="1"/>
              <a:t>trong</a:t>
            </a:r>
            <a:r>
              <a:rPr lang="en-US" dirty="0"/>
              <a:t> workflow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).</a:t>
            </a:r>
          </a:p>
          <a:p>
            <a:pPr lvl="0"/>
            <a:r>
              <a:rPr lang="en-US" dirty="0"/>
              <a:t>Backend Tests: Các job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, API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passed.</a:t>
            </a:r>
          </a:p>
          <a:p>
            <a:pPr lvl="0"/>
            <a:r>
              <a:rPr lang="en-US" dirty="0"/>
              <a:t>Frontend Tests: Các job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(Jest) </a:t>
            </a:r>
            <a:r>
              <a:rPr lang="en-US" dirty="0" err="1"/>
              <a:t>và</a:t>
            </a:r>
            <a:r>
              <a:rPr lang="en-US" dirty="0"/>
              <a:t> smoke test (Cypress) </a:t>
            </a:r>
            <a:r>
              <a:rPr lang="en-US" dirty="0" err="1"/>
              <a:t>đều</a:t>
            </a:r>
            <a:r>
              <a:rPr lang="en-US" dirty="0"/>
              <a:t> passed.</a:t>
            </a:r>
          </a:p>
          <a:p>
            <a:pPr lvl="0"/>
            <a:r>
              <a:rPr lang="en-US" dirty="0"/>
              <a:t>Code Coverage: Báo </a:t>
            </a:r>
            <a:r>
              <a:rPr lang="en-US" dirty="0" err="1"/>
              <a:t>cáo</a:t>
            </a:r>
            <a:r>
              <a:rPr lang="en-US" dirty="0"/>
              <a:t> coverage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artifact.</a:t>
            </a:r>
          </a:p>
          <a:p>
            <a:pPr lvl="0"/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: Pipeline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,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sớm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code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1B29CB-B4CC-6FDD-07ED-1F95BB400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848" y="1993582"/>
            <a:ext cx="5940425" cy="287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34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CEDDA-9A13-7CC5-30A4-CDD50E4C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 </a:t>
            </a:r>
            <a:r>
              <a:rPr lang="en-US" b="1" dirty="0" err="1"/>
              <a:t>Đánh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en-US" b="1" dirty="0" err="1"/>
              <a:t>chất</a:t>
            </a:r>
            <a:r>
              <a:rPr lang="en-US" b="1" dirty="0"/>
              <a:t> </a:t>
            </a:r>
            <a:r>
              <a:rPr lang="en-US" b="1" dirty="0" err="1"/>
              <a:t>lượng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5071C-AE65-0BCE-4D71-78F777768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Đánh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en-US" b="1" dirty="0" err="1"/>
              <a:t>chất</a:t>
            </a:r>
            <a:r>
              <a:rPr lang="en-US" b="1" dirty="0"/>
              <a:t> </a:t>
            </a:r>
            <a:r>
              <a:rPr lang="en-US" b="1" dirty="0" err="1"/>
              <a:t>lượng</a:t>
            </a:r>
            <a:endParaRPr lang="en-US" b="1" dirty="0"/>
          </a:p>
          <a:p>
            <a:pPr lvl="0"/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: 94% test case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100%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(</a:t>
            </a:r>
            <a:r>
              <a:rPr lang="en-US" dirty="0" err="1"/>
              <a:t>gồm</a:t>
            </a:r>
            <a:r>
              <a:rPr lang="en-US" dirty="0"/>
              <a:t> 1 </a:t>
            </a:r>
            <a:r>
              <a:rPr lang="en-US" dirty="0" err="1"/>
              <a:t>lỗi</a:t>
            </a:r>
            <a:r>
              <a:rPr lang="en-US" dirty="0"/>
              <a:t> High)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khắc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: Pipeline CI/CD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"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"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chặn</a:t>
            </a:r>
            <a:r>
              <a:rPr lang="en-US" dirty="0"/>
              <a:t> code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Phạm vi bao </a:t>
            </a:r>
            <a:r>
              <a:rPr lang="en-US" dirty="0" err="1"/>
              <a:t>phủ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: 78/90 test case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,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(risk-based testing),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.</a:t>
            </a:r>
          </a:p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bạch</a:t>
            </a:r>
            <a:r>
              <a:rPr lang="en-US" dirty="0"/>
              <a:t>: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,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(file JSON, CSV, artifacts),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899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4F14-4063-2FCA-83D4-95F74C0D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 </a:t>
            </a:r>
            <a:r>
              <a:rPr lang="en-US" b="1" dirty="0" err="1"/>
              <a:t>kinh</a:t>
            </a:r>
            <a:r>
              <a:rPr lang="en-US" b="1" dirty="0"/>
              <a:t> </a:t>
            </a:r>
            <a:r>
              <a:rPr lang="en-US" b="1" dirty="0" err="1"/>
              <a:t>nghiệm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D61BC-F03F-F46A-EF00-3D0D7848E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sớm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chìa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: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CI/CD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test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(</a:t>
            </a:r>
            <a:r>
              <a:rPr lang="en-US" dirty="0" err="1"/>
              <a:t>như</a:t>
            </a:r>
            <a:r>
              <a:rPr lang="en-US" dirty="0"/>
              <a:t> D-01)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code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sớm</a:t>
            </a:r>
            <a:r>
              <a:rPr lang="en-US" dirty="0"/>
              <a:t>,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kiệm</a:t>
            </a:r>
            <a:r>
              <a:rPr lang="en-US" dirty="0"/>
              <a:t> </a:t>
            </a:r>
            <a:r>
              <a:rPr lang="en-US" dirty="0" err="1"/>
              <a:t>đáng</a:t>
            </a:r>
            <a:r>
              <a:rPr lang="en-US" dirty="0"/>
              <a:t> </a:t>
            </a:r>
            <a:r>
              <a:rPr lang="en-US" dirty="0" err="1"/>
              <a:t>kể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: Thay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chữa</a:t>
            </a:r>
            <a:r>
              <a:rPr lang="en-US" dirty="0"/>
              <a:t> </a:t>
            </a:r>
            <a:r>
              <a:rPr lang="en-US" dirty="0" err="1"/>
              <a:t>tạm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(workaround),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rễ</a:t>
            </a:r>
            <a:r>
              <a:rPr lang="en-US" dirty="0"/>
              <a:t> (root cause) –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–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test E2E </a:t>
            </a:r>
            <a:r>
              <a:rPr lang="en-US" dirty="0" err="1"/>
              <a:t>trong</a:t>
            </a:r>
            <a:r>
              <a:rPr lang="en-US" dirty="0"/>
              <a:t> CI: Test E2E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CI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"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ly</a:t>
            </a:r>
            <a:r>
              <a:rPr lang="en-US" dirty="0"/>
              <a:t>"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stub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(API, database)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tin </a:t>
            </a:r>
            <a:r>
              <a:rPr lang="en-US" dirty="0" err="1"/>
              <a:t>cậy</a:t>
            </a:r>
            <a:r>
              <a:rPr lang="en-US" dirty="0"/>
              <a:t>,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test "flaky" (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pass,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fail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do).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579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DA3C6-94D5-9313-25C9-398F1F2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445" y="83890"/>
            <a:ext cx="10058400" cy="1635853"/>
          </a:xfrm>
        </p:spPr>
        <p:txBody>
          <a:bodyPr/>
          <a:lstStyle/>
          <a:p>
            <a:pPr algn="ctr"/>
            <a:r>
              <a:rPr lang="vi-VN" dirty="0"/>
              <a:t>Cảm ơn!</a:t>
            </a:r>
            <a:br>
              <a:rPr lang="vi-VN" dirty="0"/>
            </a:br>
            <a:r>
              <a:rPr lang="vi-VN" dirty="0"/>
              <a:t>Đã lắng nghe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1E033C9-FE3B-EDBF-A5A9-073A83F59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780" y="2189526"/>
            <a:ext cx="3867325" cy="369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3510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55DB0C04F5BD409A912FE05D33EC66" ma:contentTypeVersion="10" ma:contentTypeDescription="Create a new document." ma:contentTypeScope="" ma:versionID="52881b648234c56865aff62bf1f7215d">
  <xsd:schema xmlns:xsd="http://www.w3.org/2001/XMLSchema" xmlns:xs="http://www.w3.org/2001/XMLSchema" xmlns:p="http://schemas.microsoft.com/office/2006/metadata/properties" xmlns:ns3="12e3d214-3003-47e3-b404-0270b0de39e9" targetNamespace="http://schemas.microsoft.com/office/2006/metadata/properties" ma:root="true" ma:fieldsID="cbee4f8a8ba7264e0e0e26800a81d3f5" ns3:_="">
    <xsd:import namespace="12e3d214-3003-47e3-b404-0270b0de39e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e3d214-3003-47e3-b404-0270b0de39e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e3d214-3003-47e3-b404-0270b0de39e9" xsi:nil="true"/>
  </documentManagement>
</p:properties>
</file>

<file path=customXml/itemProps1.xml><?xml version="1.0" encoding="utf-8"?>
<ds:datastoreItem xmlns:ds="http://schemas.openxmlformats.org/officeDocument/2006/customXml" ds:itemID="{D5B92261-E80C-4EB8-85AA-C2F9B9A239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e3d214-3003-47e3-b404-0270b0de39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A8232D-27E2-4748-95A2-B93B0B3FE3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0A494E-E1FF-48AE-97BD-9AD2524047B3}">
  <ds:schemaRefs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2e3d214-3003-47e3-b404-0270b0de39e9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198</TotalTime>
  <Words>1731</Words>
  <Application>Microsoft Office PowerPoint</Application>
  <PresentationFormat>Widescreen</PresentationFormat>
  <Paragraphs>146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Retrospect</vt:lpstr>
      <vt:lpstr>Kiểm thử website thương      mại điện tử kinh doanh quần áo thời trang</vt:lpstr>
      <vt:lpstr>1 Giới thiệu đề tài</vt:lpstr>
      <vt:lpstr>Tổng quan hệ thống</vt:lpstr>
      <vt:lpstr>Kiến trúc hệ thống</vt:lpstr>
      <vt:lpstr>Kiến trúc hệ thống</vt:lpstr>
      <vt:lpstr>2 Kế hoạch và chiến lược kiểm thử</vt:lpstr>
      <vt:lpstr>QUY TRÌNH THIẾT KẾ KIỂM THỬ V-MODEL</vt:lpstr>
      <vt:lpstr>Kiểm thử hộp đen</vt:lpstr>
      <vt:lpstr>Kiểm thử hộp trắng</vt:lpstr>
      <vt:lpstr>Kiểm thử hộp trắng</vt:lpstr>
      <vt:lpstr>Kiểm thử hộp trắng</vt:lpstr>
      <vt:lpstr>Kiểm thử đơn vị và kiểm thử tích hợp</vt:lpstr>
      <vt:lpstr>Kiểm thử tự động và CI/CD</vt:lpstr>
      <vt:lpstr>Ứng dụng Generative AI (GenAI)</vt:lpstr>
      <vt:lpstr>Ứng dụng Generative AI (GenAI)</vt:lpstr>
      <vt:lpstr>3. Báo cáo kiểm thử</vt:lpstr>
      <vt:lpstr>Báo cáo lỗi</vt:lpstr>
      <vt:lpstr>Kết quả thực thi Pipeline CI/CD</vt:lpstr>
      <vt:lpstr>4 Đánh giá chất lượng và kết luận</vt:lpstr>
      <vt:lpstr>Bài học kinh nghiệm</vt:lpstr>
      <vt:lpstr>Cảm ơn! Đã lắng nghe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Trần Hữu Nam</dc:creator>
  <cp:lastModifiedBy>Trần Hữu Nam</cp:lastModifiedBy>
  <cp:revision>2</cp:revision>
  <dcterms:created xsi:type="dcterms:W3CDTF">2025-12-21T10:07:22Z</dcterms:created>
  <dcterms:modified xsi:type="dcterms:W3CDTF">2025-12-21T13:25:37Z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0x0101004455DB0C04F5BD409A912FE05D33EC66</vt:lpwstr>
  </property>
</Properties>
</file>